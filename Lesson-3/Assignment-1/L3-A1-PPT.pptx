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11A968-9803-4CA4-B4BE-2E6FBDB223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89A466-29FD-4D98-B922-0B77FE54B067}">
      <dgm:prSet/>
      <dgm:spPr/>
      <dgm:t>
        <a:bodyPr/>
        <a:lstStyle/>
        <a:p>
          <a:r>
            <a:rPr lang="en-US"/>
            <a:t>Traditional workflows cannot dynamically adapt to different patient situations.</a:t>
          </a:r>
        </a:p>
      </dgm:t>
    </dgm:pt>
    <dgm:pt modelId="{C5D47DF1-6621-4FBC-8D52-7A521139D2F3}" type="parTrans" cxnId="{FA4FE7EE-1BA5-46E4-AA5D-B36849D559E4}">
      <dgm:prSet/>
      <dgm:spPr/>
      <dgm:t>
        <a:bodyPr/>
        <a:lstStyle/>
        <a:p>
          <a:endParaRPr lang="en-US"/>
        </a:p>
      </dgm:t>
    </dgm:pt>
    <dgm:pt modelId="{91414563-2023-44FA-A89F-50616F9F6255}" type="sibTrans" cxnId="{FA4FE7EE-1BA5-46E4-AA5D-B36849D559E4}">
      <dgm:prSet/>
      <dgm:spPr/>
      <dgm:t>
        <a:bodyPr/>
        <a:lstStyle/>
        <a:p>
          <a:endParaRPr lang="en-US"/>
        </a:p>
      </dgm:t>
    </dgm:pt>
    <dgm:pt modelId="{6B6AEA4D-FEBB-40AC-9D45-C2A025A4AEDE}">
      <dgm:prSet/>
      <dgm:spPr/>
      <dgm:t>
        <a:bodyPr/>
        <a:lstStyle/>
        <a:p>
          <a:r>
            <a:rPr lang="en-US"/>
            <a:t>Examples:</a:t>
          </a:r>
        </a:p>
      </dgm:t>
    </dgm:pt>
    <dgm:pt modelId="{3E195634-21B1-4F2A-9CB8-F180BF09A48D}" type="parTrans" cxnId="{14548F83-3B29-4EB4-92AB-875474979C32}">
      <dgm:prSet/>
      <dgm:spPr/>
      <dgm:t>
        <a:bodyPr/>
        <a:lstStyle/>
        <a:p>
          <a:endParaRPr lang="en-US"/>
        </a:p>
      </dgm:t>
    </dgm:pt>
    <dgm:pt modelId="{0008641D-7A33-48D7-A539-EF4A8F5BCF22}" type="sibTrans" cxnId="{14548F83-3B29-4EB4-92AB-875474979C32}">
      <dgm:prSet/>
      <dgm:spPr/>
      <dgm:t>
        <a:bodyPr/>
        <a:lstStyle/>
        <a:p>
          <a:endParaRPr lang="en-US"/>
        </a:p>
      </dgm:t>
    </dgm:pt>
    <dgm:pt modelId="{B6CF989E-DA03-49C9-8ABA-4D1CD70F5FDE}">
      <dgm:prSet/>
      <dgm:spPr/>
      <dgm:t>
        <a:bodyPr/>
        <a:lstStyle/>
        <a:p>
          <a:r>
            <a:rPr lang="en-US"/>
            <a:t>• Emergency cases treated like normal requests</a:t>
          </a:r>
        </a:p>
      </dgm:t>
    </dgm:pt>
    <dgm:pt modelId="{F008DF95-FCDA-4CFF-93E2-5693ADD8A9D0}" type="parTrans" cxnId="{1CB4FEC0-B6D0-427C-A7F9-43FC2808AF94}">
      <dgm:prSet/>
      <dgm:spPr/>
      <dgm:t>
        <a:bodyPr/>
        <a:lstStyle/>
        <a:p>
          <a:endParaRPr lang="en-US"/>
        </a:p>
      </dgm:t>
    </dgm:pt>
    <dgm:pt modelId="{B314EA21-9B6C-415F-83C6-7B1AE4613F8B}" type="sibTrans" cxnId="{1CB4FEC0-B6D0-427C-A7F9-43FC2808AF94}">
      <dgm:prSet/>
      <dgm:spPr/>
      <dgm:t>
        <a:bodyPr/>
        <a:lstStyle/>
        <a:p>
          <a:endParaRPr lang="en-US"/>
        </a:p>
      </dgm:t>
    </dgm:pt>
    <dgm:pt modelId="{142DC1C3-272F-44E3-8282-4A20BC6B1197}">
      <dgm:prSet/>
      <dgm:spPr/>
      <dgm:t>
        <a:bodyPr/>
        <a:lstStyle/>
        <a:p>
          <a:r>
            <a:rPr lang="en-US"/>
            <a:t>• No intelligent specialist selection</a:t>
          </a:r>
        </a:p>
      </dgm:t>
    </dgm:pt>
    <dgm:pt modelId="{3972A9E3-4DDA-4807-A208-74DDD3AA606E}" type="parTrans" cxnId="{ED9FD969-10EB-474B-BC52-107AC4BB0DC6}">
      <dgm:prSet/>
      <dgm:spPr/>
      <dgm:t>
        <a:bodyPr/>
        <a:lstStyle/>
        <a:p>
          <a:endParaRPr lang="en-US"/>
        </a:p>
      </dgm:t>
    </dgm:pt>
    <dgm:pt modelId="{947206B0-3D0A-44E3-80B1-E7FE71F96DB5}" type="sibTrans" cxnId="{ED9FD969-10EB-474B-BC52-107AC4BB0DC6}">
      <dgm:prSet/>
      <dgm:spPr/>
      <dgm:t>
        <a:bodyPr/>
        <a:lstStyle/>
        <a:p>
          <a:endParaRPr lang="en-US"/>
        </a:p>
      </dgm:t>
    </dgm:pt>
    <dgm:pt modelId="{581FF376-F09F-4F70-8F76-ED99F710F5AB}">
      <dgm:prSet/>
      <dgm:spPr/>
      <dgm:t>
        <a:bodyPr/>
        <a:lstStyle/>
        <a:p>
          <a:r>
            <a:rPr lang="en-US"/>
            <a:t>• No symptom understanding</a:t>
          </a:r>
        </a:p>
      </dgm:t>
    </dgm:pt>
    <dgm:pt modelId="{A7236164-E4B8-4922-9DB2-2282ABB9037C}" type="parTrans" cxnId="{33CD7B73-30F1-4816-8CD1-186F364FFCBB}">
      <dgm:prSet/>
      <dgm:spPr/>
      <dgm:t>
        <a:bodyPr/>
        <a:lstStyle/>
        <a:p>
          <a:endParaRPr lang="en-US"/>
        </a:p>
      </dgm:t>
    </dgm:pt>
    <dgm:pt modelId="{6AFB8F5E-57F8-4FC6-AC8A-94E4A2C46147}" type="sibTrans" cxnId="{33CD7B73-30F1-4816-8CD1-186F364FFCBB}">
      <dgm:prSet/>
      <dgm:spPr/>
      <dgm:t>
        <a:bodyPr/>
        <a:lstStyle/>
        <a:p>
          <a:endParaRPr lang="en-US"/>
        </a:p>
      </dgm:t>
    </dgm:pt>
    <dgm:pt modelId="{5425EC18-0850-4FC6-9ED7-D525EEF60534}">
      <dgm:prSet/>
      <dgm:spPr/>
      <dgm:t>
        <a:bodyPr/>
        <a:lstStyle/>
        <a:p>
          <a:r>
            <a:rPr lang="en-US"/>
            <a:t>• No adaptive scheduling</a:t>
          </a:r>
        </a:p>
      </dgm:t>
    </dgm:pt>
    <dgm:pt modelId="{D7155681-C3AC-469C-B2F1-46206F7EF934}" type="parTrans" cxnId="{9B2F905C-8A03-411C-A809-21AB18BF88B0}">
      <dgm:prSet/>
      <dgm:spPr/>
      <dgm:t>
        <a:bodyPr/>
        <a:lstStyle/>
        <a:p>
          <a:endParaRPr lang="en-US"/>
        </a:p>
      </dgm:t>
    </dgm:pt>
    <dgm:pt modelId="{EBA0BDC9-A236-436B-B77D-9A5AED215D29}" type="sibTrans" cxnId="{9B2F905C-8A03-411C-A809-21AB18BF88B0}">
      <dgm:prSet/>
      <dgm:spPr/>
      <dgm:t>
        <a:bodyPr/>
        <a:lstStyle/>
        <a:p>
          <a:endParaRPr lang="en-US"/>
        </a:p>
      </dgm:t>
    </dgm:pt>
    <dgm:pt modelId="{87C2AD08-92C5-4EB9-9CDF-74583398DDA3}">
      <dgm:prSet/>
      <dgm:spPr/>
      <dgm:t>
        <a:bodyPr/>
        <a:lstStyle/>
        <a:p>
          <a:r>
            <a:rPr lang="en-US"/>
            <a:t>• Cannot prioritize urgency</a:t>
          </a:r>
        </a:p>
      </dgm:t>
    </dgm:pt>
    <dgm:pt modelId="{C11880C0-B7B0-4197-8E8A-D32E441CB1D0}" type="parTrans" cxnId="{192122E5-E232-4C5B-8015-4279CFACD92B}">
      <dgm:prSet/>
      <dgm:spPr/>
      <dgm:t>
        <a:bodyPr/>
        <a:lstStyle/>
        <a:p>
          <a:endParaRPr lang="en-US"/>
        </a:p>
      </dgm:t>
    </dgm:pt>
    <dgm:pt modelId="{12AD6FD1-F794-408C-A26F-AC850B4F14D6}" type="sibTrans" cxnId="{192122E5-E232-4C5B-8015-4279CFACD92B}">
      <dgm:prSet/>
      <dgm:spPr/>
      <dgm:t>
        <a:bodyPr/>
        <a:lstStyle/>
        <a:p>
          <a:endParaRPr lang="en-US"/>
        </a:p>
      </dgm:t>
    </dgm:pt>
    <dgm:pt modelId="{9D409742-CC8C-4884-A127-8F3E124229DF}" type="pres">
      <dgm:prSet presAssocID="{AA11A968-9803-4CA4-B4BE-2E6FBDB2234C}" presName="linear" presStyleCnt="0">
        <dgm:presLayoutVars>
          <dgm:animLvl val="lvl"/>
          <dgm:resizeHandles val="exact"/>
        </dgm:presLayoutVars>
      </dgm:prSet>
      <dgm:spPr/>
    </dgm:pt>
    <dgm:pt modelId="{D4E14268-F7D7-4970-A15D-2A97D398B424}" type="pres">
      <dgm:prSet presAssocID="{0489A466-29FD-4D98-B922-0B77FE54B06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0853867A-6443-48C0-BCFC-C7A4BECB337D}" type="pres">
      <dgm:prSet presAssocID="{91414563-2023-44FA-A89F-50616F9F6255}" presName="spacer" presStyleCnt="0"/>
      <dgm:spPr/>
    </dgm:pt>
    <dgm:pt modelId="{EE1CC25B-DA5A-42E1-8605-8C51247DCFEE}" type="pres">
      <dgm:prSet presAssocID="{6B6AEA4D-FEBB-40AC-9D45-C2A025A4AED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305AFFB-3402-4F3A-8DBE-94795BFB2D94}" type="pres">
      <dgm:prSet presAssocID="{0008641D-7A33-48D7-A539-EF4A8F5BCF22}" presName="spacer" presStyleCnt="0"/>
      <dgm:spPr/>
    </dgm:pt>
    <dgm:pt modelId="{11CFA238-CC22-4A92-9396-4C5F286C1820}" type="pres">
      <dgm:prSet presAssocID="{B6CF989E-DA03-49C9-8ABA-4D1CD70F5FD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13BFDD30-FBB8-4E7C-9FD4-CB5829A1E534}" type="pres">
      <dgm:prSet presAssocID="{B314EA21-9B6C-415F-83C6-7B1AE4613F8B}" presName="spacer" presStyleCnt="0"/>
      <dgm:spPr/>
    </dgm:pt>
    <dgm:pt modelId="{1F0875B7-6394-4600-92FB-8262EE5E2543}" type="pres">
      <dgm:prSet presAssocID="{142DC1C3-272F-44E3-8282-4A20BC6B119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D5B9AC5-5052-44D1-8590-F27A91F62F87}" type="pres">
      <dgm:prSet presAssocID="{947206B0-3D0A-44E3-80B1-E7FE71F96DB5}" presName="spacer" presStyleCnt="0"/>
      <dgm:spPr/>
    </dgm:pt>
    <dgm:pt modelId="{D5494BB0-9BFF-4E3C-98F6-6303FC77F848}" type="pres">
      <dgm:prSet presAssocID="{581FF376-F09F-4F70-8F76-ED99F710F5A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C259022-112C-4AC9-B84F-A98E9988BEBF}" type="pres">
      <dgm:prSet presAssocID="{6AFB8F5E-57F8-4FC6-AC8A-94E4A2C46147}" presName="spacer" presStyleCnt="0"/>
      <dgm:spPr/>
    </dgm:pt>
    <dgm:pt modelId="{CCA77995-C951-48CD-A15B-7495B390C00A}" type="pres">
      <dgm:prSet presAssocID="{5425EC18-0850-4FC6-9ED7-D525EEF6053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64CC7333-1D85-462F-A8BD-468E25D47A5E}" type="pres">
      <dgm:prSet presAssocID="{EBA0BDC9-A236-436B-B77D-9A5AED215D29}" presName="spacer" presStyleCnt="0"/>
      <dgm:spPr/>
    </dgm:pt>
    <dgm:pt modelId="{00F3D598-CFB3-4861-A36B-68144A6F8934}" type="pres">
      <dgm:prSet presAssocID="{87C2AD08-92C5-4EB9-9CDF-74583398DDA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DB99B0A-3C40-41EC-9637-5C10EEA5E2FB}" type="presOf" srcId="{0489A466-29FD-4D98-B922-0B77FE54B067}" destId="{D4E14268-F7D7-4970-A15D-2A97D398B424}" srcOrd="0" destOrd="0" presId="urn:microsoft.com/office/officeart/2005/8/layout/vList2"/>
    <dgm:cxn modelId="{480E121D-973A-46EB-97B7-E4127591CA37}" type="presOf" srcId="{581FF376-F09F-4F70-8F76-ED99F710F5AB}" destId="{D5494BB0-9BFF-4E3C-98F6-6303FC77F848}" srcOrd="0" destOrd="0" presId="urn:microsoft.com/office/officeart/2005/8/layout/vList2"/>
    <dgm:cxn modelId="{FF68D725-64AF-402C-A79F-80DB024F833D}" type="presOf" srcId="{B6CF989E-DA03-49C9-8ABA-4D1CD70F5FDE}" destId="{11CFA238-CC22-4A92-9396-4C5F286C1820}" srcOrd="0" destOrd="0" presId="urn:microsoft.com/office/officeart/2005/8/layout/vList2"/>
    <dgm:cxn modelId="{9B2F905C-8A03-411C-A809-21AB18BF88B0}" srcId="{AA11A968-9803-4CA4-B4BE-2E6FBDB2234C}" destId="{5425EC18-0850-4FC6-9ED7-D525EEF60534}" srcOrd="5" destOrd="0" parTransId="{D7155681-C3AC-469C-B2F1-46206F7EF934}" sibTransId="{EBA0BDC9-A236-436B-B77D-9A5AED215D29}"/>
    <dgm:cxn modelId="{ED9FD969-10EB-474B-BC52-107AC4BB0DC6}" srcId="{AA11A968-9803-4CA4-B4BE-2E6FBDB2234C}" destId="{142DC1C3-272F-44E3-8282-4A20BC6B1197}" srcOrd="3" destOrd="0" parTransId="{3972A9E3-4DDA-4807-A208-74DDD3AA606E}" sibTransId="{947206B0-3D0A-44E3-80B1-E7FE71F96DB5}"/>
    <dgm:cxn modelId="{D4C4144B-0C7E-4717-8774-CBEE8FFF7161}" type="presOf" srcId="{87C2AD08-92C5-4EB9-9CDF-74583398DDA3}" destId="{00F3D598-CFB3-4861-A36B-68144A6F8934}" srcOrd="0" destOrd="0" presId="urn:microsoft.com/office/officeart/2005/8/layout/vList2"/>
    <dgm:cxn modelId="{068E556C-A1F4-4FB3-84FD-AB49B80923B5}" type="presOf" srcId="{5425EC18-0850-4FC6-9ED7-D525EEF60534}" destId="{CCA77995-C951-48CD-A15B-7495B390C00A}" srcOrd="0" destOrd="0" presId="urn:microsoft.com/office/officeart/2005/8/layout/vList2"/>
    <dgm:cxn modelId="{86F5BE52-F699-41C5-851F-17DF4301B953}" type="presOf" srcId="{AA11A968-9803-4CA4-B4BE-2E6FBDB2234C}" destId="{9D409742-CC8C-4884-A127-8F3E124229DF}" srcOrd="0" destOrd="0" presId="urn:microsoft.com/office/officeart/2005/8/layout/vList2"/>
    <dgm:cxn modelId="{33CD7B73-30F1-4816-8CD1-186F364FFCBB}" srcId="{AA11A968-9803-4CA4-B4BE-2E6FBDB2234C}" destId="{581FF376-F09F-4F70-8F76-ED99F710F5AB}" srcOrd="4" destOrd="0" parTransId="{A7236164-E4B8-4922-9DB2-2282ABB9037C}" sibTransId="{6AFB8F5E-57F8-4FC6-AC8A-94E4A2C46147}"/>
    <dgm:cxn modelId="{E6A51459-C97E-4AC2-90CF-7AEDAF0D4002}" type="presOf" srcId="{6B6AEA4D-FEBB-40AC-9D45-C2A025A4AEDE}" destId="{EE1CC25B-DA5A-42E1-8605-8C51247DCFEE}" srcOrd="0" destOrd="0" presId="urn:microsoft.com/office/officeart/2005/8/layout/vList2"/>
    <dgm:cxn modelId="{14548F83-3B29-4EB4-92AB-875474979C32}" srcId="{AA11A968-9803-4CA4-B4BE-2E6FBDB2234C}" destId="{6B6AEA4D-FEBB-40AC-9D45-C2A025A4AEDE}" srcOrd="1" destOrd="0" parTransId="{3E195634-21B1-4F2A-9CB8-F180BF09A48D}" sibTransId="{0008641D-7A33-48D7-A539-EF4A8F5BCF22}"/>
    <dgm:cxn modelId="{7EC386AF-5E81-413A-AFD2-88A25F1E548A}" type="presOf" srcId="{142DC1C3-272F-44E3-8282-4A20BC6B1197}" destId="{1F0875B7-6394-4600-92FB-8262EE5E2543}" srcOrd="0" destOrd="0" presId="urn:microsoft.com/office/officeart/2005/8/layout/vList2"/>
    <dgm:cxn modelId="{1CB4FEC0-B6D0-427C-A7F9-43FC2808AF94}" srcId="{AA11A968-9803-4CA4-B4BE-2E6FBDB2234C}" destId="{B6CF989E-DA03-49C9-8ABA-4D1CD70F5FDE}" srcOrd="2" destOrd="0" parTransId="{F008DF95-FCDA-4CFF-93E2-5693ADD8A9D0}" sibTransId="{B314EA21-9B6C-415F-83C6-7B1AE4613F8B}"/>
    <dgm:cxn modelId="{192122E5-E232-4C5B-8015-4279CFACD92B}" srcId="{AA11A968-9803-4CA4-B4BE-2E6FBDB2234C}" destId="{87C2AD08-92C5-4EB9-9CDF-74583398DDA3}" srcOrd="6" destOrd="0" parTransId="{C11880C0-B7B0-4197-8E8A-D32E441CB1D0}" sibTransId="{12AD6FD1-F794-408C-A26F-AC850B4F14D6}"/>
    <dgm:cxn modelId="{FA4FE7EE-1BA5-46E4-AA5D-B36849D559E4}" srcId="{AA11A968-9803-4CA4-B4BE-2E6FBDB2234C}" destId="{0489A466-29FD-4D98-B922-0B77FE54B067}" srcOrd="0" destOrd="0" parTransId="{C5D47DF1-6621-4FBC-8D52-7A521139D2F3}" sibTransId="{91414563-2023-44FA-A89F-50616F9F6255}"/>
    <dgm:cxn modelId="{6537F4B3-000F-4937-AB3F-C1600D6771B4}" type="presParOf" srcId="{9D409742-CC8C-4884-A127-8F3E124229DF}" destId="{D4E14268-F7D7-4970-A15D-2A97D398B424}" srcOrd="0" destOrd="0" presId="urn:microsoft.com/office/officeart/2005/8/layout/vList2"/>
    <dgm:cxn modelId="{E7D015BC-9118-4939-8417-3A02CC294124}" type="presParOf" srcId="{9D409742-CC8C-4884-A127-8F3E124229DF}" destId="{0853867A-6443-48C0-BCFC-C7A4BECB337D}" srcOrd="1" destOrd="0" presId="urn:microsoft.com/office/officeart/2005/8/layout/vList2"/>
    <dgm:cxn modelId="{664B2517-5DD8-4741-8125-BE00C9981E85}" type="presParOf" srcId="{9D409742-CC8C-4884-A127-8F3E124229DF}" destId="{EE1CC25B-DA5A-42E1-8605-8C51247DCFEE}" srcOrd="2" destOrd="0" presId="urn:microsoft.com/office/officeart/2005/8/layout/vList2"/>
    <dgm:cxn modelId="{F4D465B2-F8E4-4698-8A22-0A611D16D45E}" type="presParOf" srcId="{9D409742-CC8C-4884-A127-8F3E124229DF}" destId="{A305AFFB-3402-4F3A-8DBE-94795BFB2D94}" srcOrd="3" destOrd="0" presId="urn:microsoft.com/office/officeart/2005/8/layout/vList2"/>
    <dgm:cxn modelId="{7C5CCC87-E942-4125-A966-F997F0149D67}" type="presParOf" srcId="{9D409742-CC8C-4884-A127-8F3E124229DF}" destId="{11CFA238-CC22-4A92-9396-4C5F286C1820}" srcOrd="4" destOrd="0" presId="urn:microsoft.com/office/officeart/2005/8/layout/vList2"/>
    <dgm:cxn modelId="{DCB0D6A1-F0B2-4BED-891B-C63FE3072078}" type="presParOf" srcId="{9D409742-CC8C-4884-A127-8F3E124229DF}" destId="{13BFDD30-FBB8-4E7C-9FD4-CB5829A1E534}" srcOrd="5" destOrd="0" presId="urn:microsoft.com/office/officeart/2005/8/layout/vList2"/>
    <dgm:cxn modelId="{FB091750-DBCD-4579-ADE7-624CF3B12A2E}" type="presParOf" srcId="{9D409742-CC8C-4884-A127-8F3E124229DF}" destId="{1F0875B7-6394-4600-92FB-8262EE5E2543}" srcOrd="6" destOrd="0" presId="urn:microsoft.com/office/officeart/2005/8/layout/vList2"/>
    <dgm:cxn modelId="{DE3E37D8-AA15-4EFF-BDBC-AC7A20161B2F}" type="presParOf" srcId="{9D409742-CC8C-4884-A127-8F3E124229DF}" destId="{CD5B9AC5-5052-44D1-8590-F27A91F62F87}" srcOrd="7" destOrd="0" presId="urn:microsoft.com/office/officeart/2005/8/layout/vList2"/>
    <dgm:cxn modelId="{45858EA1-71FA-48FF-A11E-087CA4394F60}" type="presParOf" srcId="{9D409742-CC8C-4884-A127-8F3E124229DF}" destId="{D5494BB0-9BFF-4E3C-98F6-6303FC77F848}" srcOrd="8" destOrd="0" presId="urn:microsoft.com/office/officeart/2005/8/layout/vList2"/>
    <dgm:cxn modelId="{EB38C8C1-CFEB-407C-839A-2D4D5B9842DD}" type="presParOf" srcId="{9D409742-CC8C-4884-A127-8F3E124229DF}" destId="{2C259022-112C-4AC9-B84F-A98E9988BEBF}" srcOrd="9" destOrd="0" presId="urn:microsoft.com/office/officeart/2005/8/layout/vList2"/>
    <dgm:cxn modelId="{3C9F62AD-C633-4398-AF3E-08C47BB1DD92}" type="presParOf" srcId="{9D409742-CC8C-4884-A127-8F3E124229DF}" destId="{CCA77995-C951-48CD-A15B-7495B390C00A}" srcOrd="10" destOrd="0" presId="urn:microsoft.com/office/officeart/2005/8/layout/vList2"/>
    <dgm:cxn modelId="{816D1410-9DB5-4860-AE27-E9CADF2D166E}" type="presParOf" srcId="{9D409742-CC8C-4884-A127-8F3E124229DF}" destId="{64CC7333-1D85-462F-A8BD-468E25D47A5E}" srcOrd="11" destOrd="0" presId="urn:microsoft.com/office/officeart/2005/8/layout/vList2"/>
    <dgm:cxn modelId="{B7F00C17-E81A-4310-895D-9F96C7ACAC00}" type="presParOf" srcId="{9D409742-CC8C-4884-A127-8F3E124229DF}" destId="{00F3D598-CFB3-4861-A36B-68144A6F893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14268-F7D7-4970-A15D-2A97D398B424}">
      <dsp:nvSpPr>
        <dsp:cNvPr id="0" name=""/>
        <dsp:cNvSpPr/>
      </dsp:nvSpPr>
      <dsp:spPr>
        <a:xfrm>
          <a:off x="0" y="259988"/>
          <a:ext cx="1065357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Traditional workflows cannot dynamically adapt to different patient situations.</a:t>
          </a:r>
        </a:p>
      </dsp:txBody>
      <dsp:txXfrm>
        <a:off x="25759" y="285747"/>
        <a:ext cx="10602061" cy="476152"/>
      </dsp:txXfrm>
    </dsp:sp>
    <dsp:sp modelId="{EE1CC25B-DA5A-42E1-8605-8C51247DCFEE}">
      <dsp:nvSpPr>
        <dsp:cNvPr id="0" name=""/>
        <dsp:cNvSpPr/>
      </dsp:nvSpPr>
      <dsp:spPr>
        <a:xfrm>
          <a:off x="0" y="851018"/>
          <a:ext cx="1065357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Examples:</a:t>
          </a:r>
        </a:p>
      </dsp:txBody>
      <dsp:txXfrm>
        <a:off x="25759" y="876777"/>
        <a:ext cx="10602061" cy="476152"/>
      </dsp:txXfrm>
    </dsp:sp>
    <dsp:sp modelId="{11CFA238-CC22-4A92-9396-4C5F286C1820}">
      <dsp:nvSpPr>
        <dsp:cNvPr id="0" name=""/>
        <dsp:cNvSpPr/>
      </dsp:nvSpPr>
      <dsp:spPr>
        <a:xfrm>
          <a:off x="0" y="1442049"/>
          <a:ext cx="1065357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Emergency cases treated like normal requests</a:t>
          </a:r>
        </a:p>
      </dsp:txBody>
      <dsp:txXfrm>
        <a:off x="25759" y="1467808"/>
        <a:ext cx="10602061" cy="476152"/>
      </dsp:txXfrm>
    </dsp:sp>
    <dsp:sp modelId="{1F0875B7-6394-4600-92FB-8262EE5E2543}">
      <dsp:nvSpPr>
        <dsp:cNvPr id="0" name=""/>
        <dsp:cNvSpPr/>
      </dsp:nvSpPr>
      <dsp:spPr>
        <a:xfrm>
          <a:off x="0" y="2033079"/>
          <a:ext cx="1065357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No intelligent specialist selection</a:t>
          </a:r>
        </a:p>
      </dsp:txBody>
      <dsp:txXfrm>
        <a:off x="25759" y="2058838"/>
        <a:ext cx="10602061" cy="476152"/>
      </dsp:txXfrm>
    </dsp:sp>
    <dsp:sp modelId="{D5494BB0-9BFF-4E3C-98F6-6303FC77F848}">
      <dsp:nvSpPr>
        <dsp:cNvPr id="0" name=""/>
        <dsp:cNvSpPr/>
      </dsp:nvSpPr>
      <dsp:spPr>
        <a:xfrm>
          <a:off x="0" y="2624109"/>
          <a:ext cx="1065357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No symptom understanding</a:t>
          </a:r>
        </a:p>
      </dsp:txBody>
      <dsp:txXfrm>
        <a:off x="25759" y="2649868"/>
        <a:ext cx="10602061" cy="476152"/>
      </dsp:txXfrm>
    </dsp:sp>
    <dsp:sp modelId="{CCA77995-C951-48CD-A15B-7495B390C00A}">
      <dsp:nvSpPr>
        <dsp:cNvPr id="0" name=""/>
        <dsp:cNvSpPr/>
      </dsp:nvSpPr>
      <dsp:spPr>
        <a:xfrm>
          <a:off x="0" y="3215139"/>
          <a:ext cx="1065357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No adaptive scheduling</a:t>
          </a:r>
        </a:p>
      </dsp:txBody>
      <dsp:txXfrm>
        <a:off x="25759" y="3240898"/>
        <a:ext cx="10602061" cy="476152"/>
      </dsp:txXfrm>
    </dsp:sp>
    <dsp:sp modelId="{00F3D598-CFB3-4861-A36B-68144A6F8934}">
      <dsp:nvSpPr>
        <dsp:cNvPr id="0" name=""/>
        <dsp:cNvSpPr/>
      </dsp:nvSpPr>
      <dsp:spPr>
        <a:xfrm>
          <a:off x="0" y="3806169"/>
          <a:ext cx="1065357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Cannot prioritize urgency</a:t>
          </a:r>
        </a:p>
      </dsp:txBody>
      <dsp:txXfrm>
        <a:off x="25759" y="3831928"/>
        <a:ext cx="10602061" cy="476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76E3E-9B73-4263-8AB6-0ED0BDDF8EE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83B09-0027-4669-9EFF-3F60D5DCB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3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34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72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5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6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9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4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9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0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90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6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7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391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3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  <p:sldLayoutId id="214748370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423B8-F97B-C592-9BFE-5405FCD537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393" b="35357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54CBEB-5ECC-FD55-413F-EEC28A5C7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IN" sz="5400">
                <a:solidFill>
                  <a:srgbClr val="FFFFFF"/>
                </a:solidFill>
              </a:rPr>
              <a:t>Workflow vs AI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EB402-6D6E-9665-886E-1CF7C73E3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IN" sz="2200">
                <a:solidFill>
                  <a:srgbClr val="FFFFFF"/>
                </a:solidFill>
              </a:rPr>
              <a:t>Smart Healthcare Appointment Assistant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ED079-4EEC-74A6-504D-3459AE75DDCA}"/>
              </a:ext>
            </a:extLst>
          </p:cNvPr>
          <p:cNvSpPr txBox="1"/>
          <p:nvPr/>
        </p:nvSpPr>
        <p:spPr>
          <a:xfrm>
            <a:off x="1457325" y="5846857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Lesson 3  Understanding AI Agents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312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E345A-D1DA-08D1-A93E-3294D6DC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IN"/>
              <a:t>Problem Statement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EEBDE4D-25C4-AEBC-AB21-290FCB884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/>
              <a:t>Healthcare appointment systems traditionally follow fixed workflows.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/>
              <a:t>These systems work well for predictable tasks but struggle with: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emergency situations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dynamic scheduling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symptom understanding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specialist recommendations</a:t>
            </a:r>
          </a:p>
          <a:p>
            <a:pPr>
              <a:lnSpc>
                <a:spcPct val="110000"/>
              </a:lnSpc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/>
              <a:t>AI agents can improve healthcare systems by making adaptive, context-aware decisions.</a:t>
            </a:r>
            <a:endParaRPr lang="en-IN" sz="1400" dirty="0"/>
          </a:p>
        </p:txBody>
      </p: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2939913B-CAB9-2599-F79A-2952785C9E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28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B6E8C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267" dirty="0">
                <a:solidFill>
                  <a:srgbClr val="FFFFFF"/>
                </a:solidFill>
              </a:rPr>
              <a:t>TRADITIONAL WORKFLOW</a:t>
            </a:r>
            <a:endParaRPr lang="en-US" sz="1733" dirty="0"/>
          </a:p>
        </p:txBody>
      </p:sp>
      <p:sp>
        <p:nvSpPr>
          <p:cNvPr id="4" name="Text 2"/>
          <p:cNvSpPr/>
          <p:nvPr/>
        </p:nvSpPr>
        <p:spPr>
          <a:xfrm>
            <a:off x="48768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5B6E8C"/>
                </a:solidFill>
              </a:rPr>
              <a:t>Fixed, Rule-Based Appointment Booking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457200" y="2950464"/>
            <a:ext cx="1706880" cy="5913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97536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1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426720" y="2194560"/>
            <a:ext cx="17068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7" dirty="0"/>
          </a:p>
        </p:txBody>
      </p:sp>
      <p:sp>
        <p:nvSpPr>
          <p:cNvPr id="9" name="Text 7"/>
          <p:cNvSpPr/>
          <p:nvPr/>
        </p:nvSpPr>
        <p:spPr>
          <a:xfrm>
            <a:off x="426720" y="2840736"/>
            <a:ext cx="17068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A5A7A"/>
                </a:solidFill>
              </a:rPr>
              <a:t>Patient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3A5A7A"/>
                </a:solidFill>
              </a:rPr>
              <a:t>Fills Form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2164080" y="3172265"/>
            <a:ext cx="518160" cy="0"/>
          </a:xfrm>
          <a:prstGeom prst="line">
            <a:avLst/>
          </a:prstGeom>
          <a:noFill/>
          <a:ln w="25400">
            <a:solidFill>
              <a:srgbClr val="5B6E8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2662897" y="2993136"/>
            <a:ext cx="243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B6E8C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62775" y="2864768"/>
            <a:ext cx="1706880" cy="609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338328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2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2834640" y="2840736"/>
            <a:ext cx="1706880" cy="682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A5A7A"/>
                </a:solidFill>
              </a:rPr>
              <a:t>Select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3A5A7A"/>
                </a:solidFill>
              </a:rPr>
              <a:t>Department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4569655" y="3172265"/>
            <a:ext cx="518160" cy="0"/>
          </a:xfrm>
          <a:prstGeom prst="line">
            <a:avLst/>
          </a:prstGeom>
          <a:noFill/>
          <a:ln w="25400">
            <a:solidFill>
              <a:srgbClr val="5B6E8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5072575" y="3001577"/>
            <a:ext cx="243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B6E8C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70695" y="2864768"/>
            <a:ext cx="1706880" cy="70713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1" name="Text 19"/>
          <p:cNvSpPr/>
          <p:nvPr/>
        </p:nvSpPr>
        <p:spPr>
          <a:xfrm>
            <a:off x="579120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3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5242560" y="2950464"/>
            <a:ext cx="1706880" cy="743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A5A7A"/>
                </a:solidFill>
              </a:rPr>
              <a:t>Assign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3A5A7A"/>
                </a:solidFill>
              </a:rPr>
              <a:t>Doctor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6977575" y="3172265"/>
            <a:ext cx="518160" cy="0"/>
          </a:xfrm>
          <a:prstGeom prst="line">
            <a:avLst/>
          </a:prstGeom>
          <a:noFill/>
          <a:ln w="25400">
            <a:solidFill>
              <a:srgbClr val="5B6E8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7467600" y="2980944"/>
            <a:ext cx="243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B6E8C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50480" y="2926080"/>
            <a:ext cx="1706880" cy="59740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8" name="Text 26"/>
          <p:cNvSpPr/>
          <p:nvPr/>
        </p:nvSpPr>
        <p:spPr>
          <a:xfrm>
            <a:off x="819912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4</a:t>
            </a:r>
            <a:endParaRPr lang="en-US" sz="1733" dirty="0"/>
          </a:p>
        </p:txBody>
      </p:sp>
      <p:sp>
        <p:nvSpPr>
          <p:cNvPr id="30" name="Text 28"/>
          <p:cNvSpPr/>
          <p:nvPr/>
        </p:nvSpPr>
        <p:spPr>
          <a:xfrm>
            <a:off x="7650480" y="2840736"/>
            <a:ext cx="17068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A5A7A"/>
                </a:solidFill>
              </a:rPr>
              <a:t>Book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3A5A7A"/>
                </a:solidFill>
              </a:rPr>
              <a:t>Slot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9427112" y="3135337"/>
            <a:ext cx="518160" cy="0"/>
          </a:xfrm>
          <a:prstGeom prst="line">
            <a:avLst/>
          </a:prstGeom>
          <a:noFill/>
          <a:ln w="25400">
            <a:solidFill>
              <a:srgbClr val="5B6E8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9879916" y="2964649"/>
            <a:ext cx="243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B6E8C"/>
                </a:solidFill>
              </a:rPr>
              <a:t>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58400" y="2926081"/>
            <a:ext cx="1706880" cy="6458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7" name="Text 35"/>
          <p:cNvSpPr/>
          <p:nvPr/>
        </p:nvSpPr>
        <p:spPr>
          <a:xfrm>
            <a:off x="10058400" y="2840736"/>
            <a:ext cx="1706880" cy="682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A5A7A"/>
                </a:solidFill>
              </a:rPr>
              <a:t>Send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3A5A7A"/>
                </a:solidFill>
              </a:rPr>
              <a:t>Confirmation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487680" y="4206240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5B6E8C"/>
                </a:solidFill>
              </a:rPr>
              <a:t>Workflow Characteristics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426720" y="4815840"/>
            <a:ext cx="3657600" cy="5364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40" name="Text 38"/>
          <p:cNvSpPr/>
          <p:nvPr/>
        </p:nvSpPr>
        <p:spPr>
          <a:xfrm>
            <a:off x="548640" y="4815840"/>
            <a:ext cx="35356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A1628"/>
                </a:solidFill>
              </a:rPr>
              <a:t> Fixed Sequence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328160" y="4815840"/>
            <a:ext cx="3657600" cy="5364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42" name="Text 40"/>
          <p:cNvSpPr/>
          <p:nvPr/>
        </p:nvSpPr>
        <p:spPr>
          <a:xfrm>
            <a:off x="4450080" y="4815840"/>
            <a:ext cx="35356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A1628"/>
                </a:solidFill>
              </a:rPr>
              <a:t> Predefined Rules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229600" y="4815840"/>
            <a:ext cx="3657600" cy="5364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44" name="Text 42"/>
          <p:cNvSpPr/>
          <p:nvPr/>
        </p:nvSpPr>
        <p:spPr>
          <a:xfrm>
            <a:off x="8351520" y="4815840"/>
            <a:ext cx="35356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A1628"/>
                </a:solidFill>
              </a:rPr>
              <a:t> Highly Predictable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26720" y="5486400"/>
            <a:ext cx="3657600" cy="5364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46" name="Text 44"/>
          <p:cNvSpPr/>
          <p:nvPr/>
        </p:nvSpPr>
        <p:spPr>
          <a:xfrm>
            <a:off x="548640" y="5486400"/>
            <a:ext cx="35356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A1628"/>
                </a:solidFill>
              </a:rPr>
              <a:t> No Symptom Awareness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328160" y="5486400"/>
            <a:ext cx="3657600" cy="5364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48" name="Text 46"/>
          <p:cNvSpPr/>
          <p:nvPr/>
        </p:nvSpPr>
        <p:spPr>
          <a:xfrm>
            <a:off x="4450080" y="5486400"/>
            <a:ext cx="35356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A1628"/>
                </a:solidFill>
              </a:rPr>
              <a:t> Easy to Maintain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229600" y="5486400"/>
            <a:ext cx="3657600" cy="5364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0" name="Text 48"/>
          <p:cNvSpPr/>
          <p:nvPr/>
        </p:nvSpPr>
        <p:spPr>
          <a:xfrm>
            <a:off x="8351520" y="5486400"/>
            <a:ext cx="35356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A1628"/>
                </a:solidFill>
              </a:rPr>
              <a:t> No Dynamic Reasoning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1704320" y="6339840"/>
            <a:ext cx="365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4D7C-FDEC-8753-3766-A67CA279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Traditional Workflow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7F3C9FAA-F6B6-563C-CED8-C9757EF862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0100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5"/>
            <a:ext cx="1219200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267" dirty="0"/>
              <a:t>AI AGENT ARCHITECTURE</a:t>
            </a:r>
            <a:endParaRPr lang="en-US" sz="1733" dirty="0"/>
          </a:p>
        </p:txBody>
      </p:sp>
      <p:sp>
        <p:nvSpPr>
          <p:cNvPr id="4" name="Text 2"/>
          <p:cNvSpPr/>
          <p:nvPr/>
        </p:nvSpPr>
        <p:spPr>
          <a:xfrm>
            <a:off x="487680" y="107289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 err="1">
                <a:solidFill>
                  <a:srgbClr val="00B4D8"/>
                </a:solidFill>
              </a:rPr>
              <a:t>Dynamic,Context</a:t>
            </a:r>
            <a:r>
              <a:rPr lang="en-US" sz="2533" b="1" dirty="0">
                <a:solidFill>
                  <a:srgbClr val="00B4D8"/>
                </a:solidFill>
              </a:rPr>
              <a:t>-Aware Scheduling Agent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426720" y="1828800"/>
            <a:ext cx="4267200" cy="609600"/>
          </a:xfrm>
          <a:prstGeom prst="rect">
            <a:avLst/>
          </a:prstGeom>
          <a:solidFill>
            <a:srgbClr val="0E5FA0">
              <a:alpha val="8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426720" y="182880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Patient Describes Symptoms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2438400" y="2450592"/>
            <a:ext cx="243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6720" y="2657856"/>
            <a:ext cx="4267200" cy="609600"/>
          </a:xfrm>
          <a:prstGeom prst="rect">
            <a:avLst/>
          </a:prstGeom>
          <a:solidFill>
            <a:srgbClr val="0E5FA0">
              <a:alpha val="8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426720" y="2657856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LLM Analyzes Symptoms &amp; Urgency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2438400" y="3279648"/>
            <a:ext cx="243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6720" y="3486912"/>
            <a:ext cx="4267200" cy="609600"/>
          </a:xfrm>
          <a:prstGeom prst="rect">
            <a:avLst/>
          </a:prstGeom>
          <a:solidFill>
            <a:srgbClr val="0E5FA0">
              <a:alpha val="8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426720" y="3486912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Dynamic Specialist Selection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2438400" y="4108704"/>
            <a:ext cx="243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720" y="4315968"/>
            <a:ext cx="4267200" cy="609600"/>
          </a:xfrm>
          <a:prstGeom prst="rect">
            <a:avLst/>
          </a:prstGeom>
          <a:solidFill>
            <a:srgbClr val="0E5FA0">
              <a:alpha val="8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5" name="Text 13"/>
          <p:cNvSpPr/>
          <p:nvPr/>
        </p:nvSpPr>
        <p:spPr>
          <a:xfrm>
            <a:off x="426720" y="4315968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Check Calendar &amp; Availability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2438400" y="4937760"/>
            <a:ext cx="243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6720" y="5145024"/>
            <a:ext cx="4267200" cy="60960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426720" y="5145024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Smart Decision Engine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2438400" y="5766816"/>
            <a:ext cx="243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6720" y="5974080"/>
            <a:ext cx="4267200" cy="609600"/>
          </a:xfrm>
          <a:prstGeom prst="rect">
            <a:avLst/>
          </a:prstGeom>
          <a:solidFill>
            <a:srgbClr val="0E5FA0">
              <a:alpha val="8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1" name="Text 19"/>
          <p:cNvSpPr/>
          <p:nvPr/>
        </p:nvSpPr>
        <p:spPr>
          <a:xfrm>
            <a:off x="426720" y="597408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Book &amp; Confirm Appointment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4693920" y="5303520"/>
            <a:ext cx="853440" cy="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Shape 21"/>
          <p:cNvSpPr/>
          <p:nvPr/>
        </p:nvSpPr>
        <p:spPr>
          <a:xfrm>
            <a:off x="5547360" y="2175641"/>
            <a:ext cx="24384" cy="4188584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4" name="Shape 22"/>
          <p:cNvSpPr/>
          <p:nvPr/>
        </p:nvSpPr>
        <p:spPr>
          <a:xfrm>
            <a:off x="5547360" y="2401824"/>
            <a:ext cx="365760" cy="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5" name="Shape 23"/>
          <p:cNvSpPr/>
          <p:nvPr/>
        </p:nvSpPr>
        <p:spPr>
          <a:xfrm>
            <a:off x="5937504" y="2097024"/>
            <a:ext cx="3779520" cy="609600"/>
          </a:xfrm>
          <a:prstGeom prst="rect">
            <a:avLst/>
          </a:prstGeom>
          <a:solidFill>
            <a:srgbClr val="E63946">
              <a:alpha val="7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5937504" y="2097024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 Emergency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</a:rPr>
              <a:t>Escalation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47360" y="3621024"/>
            <a:ext cx="365760" cy="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8" name="Shape 26"/>
          <p:cNvSpPr/>
          <p:nvPr/>
        </p:nvSpPr>
        <p:spPr>
          <a:xfrm>
            <a:off x="5937504" y="3316224"/>
            <a:ext cx="3779520" cy="609600"/>
          </a:xfrm>
          <a:prstGeom prst="rect">
            <a:avLst/>
          </a:prstGeom>
          <a:solidFill>
            <a:srgbClr val="F4A261">
              <a:alpha val="7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9" name="Text 27"/>
          <p:cNvSpPr/>
          <p:nvPr/>
        </p:nvSpPr>
        <p:spPr>
          <a:xfrm>
            <a:off x="5937504" y="3316224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 Online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</a:rPr>
              <a:t>Consultation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47360" y="4840224"/>
            <a:ext cx="365760" cy="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1" name="Shape 29"/>
          <p:cNvSpPr/>
          <p:nvPr/>
        </p:nvSpPr>
        <p:spPr>
          <a:xfrm>
            <a:off x="5937504" y="4535424"/>
            <a:ext cx="3779520" cy="60960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5937504" y="4535424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 Reschedule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</a:rPr>
              <a:t>Patient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547360" y="6059424"/>
            <a:ext cx="365760" cy="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4" name="Shape 32"/>
          <p:cNvSpPr/>
          <p:nvPr/>
        </p:nvSpPr>
        <p:spPr>
          <a:xfrm>
            <a:off x="5937504" y="5754624"/>
            <a:ext cx="3779520" cy="609600"/>
          </a:xfrm>
          <a:prstGeom prst="rect">
            <a:avLst/>
          </a:prstGeom>
          <a:solidFill>
            <a:srgbClr val="06A77D">
              <a:alpha val="7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5" name="Text 33"/>
          <p:cNvSpPr/>
          <p:nvPr/>
        </p:nvSpPr>
        <p:spPr>
          <a:xfrm>
            <a:off x="5937504" y="5754624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 Send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</a:rPr>
              <a:t>Reminders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E5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267" dirty="0">
                <a:solidFill>
                  <a:srgbClr val="FFFFFF"/>
                </a:solidFill>
              </a:rPr>
              <a:t>MULTI-AGENT ORCHESTRATION</a:t>
            </a:r>
            <a:endParaRPr lang="en-US" sz="1733" dirty="0"/>
          </a:p>
        </p:txBody>
      </p:sp>
      <p:sp>
        <p:nvSpPr>
          <p:cNvPr id="4" name="Text 2"/>
          <p:cNvSpPr/>
          <p:nvPr/>
        </p:nvSpPr>
        <p:spPr>
          <a:xfrm>
            <a:off x="0" y="877823"/>
            <a:ext cx="10972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0B4D8"/>
                </a:solidFill>
              </a:rPr>
              <a:t>How Agents Collaborate to Schedule a Patient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3947160" y="1341120"/>
            <a:ext cx="4194048" cy="1243584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059936" y="1487424"/>
            <a:ext cx="3901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  ORCHESTRATOR AGENT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093464" y="2060448"/>
            <a:ext cx="3901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7BA4C8"/>
                </a:solidFill>
              </a:rPr>
              <a:t>Receives patient input . Plans tasks . Delegates to sub-agents</a:t>
            </a:r>
            <a:endParaRPr lang="en-US" sz="1133" dirty="0"/>
          </a:p>
        </p:txBody>
      </p:sp>
      <p:sp>
        <p:nvSpPr>
          <p:cNvPr id="10" name="Shape 8"/>
          <p:cNvSpPr/>
          <p:nvPr/>
        </p:nvSpPr>
        <p:spPr>
          <a:xfrm>
            <a:off x="6096000" y="2511552"/>
            <a:ext cx="0" cy="3779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798320" y="2889504"/>
            <a:ext cx="42976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798320" y="2889504"/>
            <a:ext cx="0" cy="329184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43840" y="3230880"/>
            <a:ext cx="3108960" cy="877824"/>
          </a:xfrm>
          <a:prstGeom prst="rect">
            <a:avLst/>
          </a:prstGeom>
          <a:solidFill>
            <a:srgbClr val="E63946">
              <a:alpha val="18000"/>
            </a:srgbClr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04801" y="3236976"/>
            <a:ext cx="2865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  TRIAGE AGENT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365760" y="3572256"/>
            <a:ext cx="286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7BA4C8"/>
                </a:solidFill>
              </a:rPr>
              <a:t>Assesses urgency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7BA4C8"/>
                </a:solidFill>
              </a:rPr>
              <a:t>&amp; severity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98320" y="3986784"/>
            <a:ext cx="0" cy="34137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798320" y="4767072"/>
            <a:ext cx="0" cy="121920"/>
          </a:xfrm>
          <a:prstGeom prst="line">
            <a:avLst/>
          </a:prstGeom>
          <a:noFill/>
          <a:ln w="12700">
            <a:solidFill>
              <a:schemeClr val="tx1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90144" y="4328160"/>
            <a:ext cx="2816352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2064" y="4328160"/>
            <a:ext cx="264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 Symptom Classifier</a:t>
            </a:r>
          </a:p>
        </p:txBody>
      </p:sp>
      <p:sp>
        <p:nvSpPr>
          <p:cNvPr id="24" name="Shape 22"/>
          <p:cNvSpPr/>
          <p:nvPr/>
        </p:nvSpPr>
        <p:spPr>
          <a:xfrm>
            <a:off x="1798320" y="5327904"/>
            <a:ext cx="0" cy="121920"/>
          </a:xfrm>
          <a:prstGeom prst="line">
            <a:avLst/>
          </a:prstGeom>
          <a:noFill/>
          <a:ln w="12700">
            <a:solidFill>
              <a:schemeClr val="tx1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90144" y="4888992"/>
            <a:ext cx="2816352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2064" y="4888992"/>
            <a:ext cx="264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 Risk Scorer</a:t>
            </a:r>
          </a:p>
        </p:txBody>
      </p:sp>
      <p:sp>
        <p:nvSpPr>
          <p:cNvPr id="28" name="Shape 26"/>
          <p:cNvSpPr/>
          <p:nvPr/>
        </p:nvSpPr>
        <p:spPr>
          <a:xfrm>
            <a:off x="390144" y="5449824"/>
            <a:ext cx="2816352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12064" y="5449824"/>
            <a:ext cx="264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Alert Tool</a:t>
            </a:r>
          </a:p>
        </p:txBody>
      </p:sp>
      <p:sp>
        <p:nvSpPr>
          <p:cNvPr id="31" name="Shape 29"/>
          <p:cNvSpPr/>
          <p:nvPr/>
        </p:nvSpPr>
        <p:spPr>
          <a:xfrm>
            <a:off x="6096000" y="2511552"/>
            <a:ext cx="0" cy="3779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ash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096000" y="2889504"/>
            <a:ext cx="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ash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096000" y="2889504"/>
            <a:ext cx="0" cy="21945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41520" y="3108960"/>
            <a:ext cx="3108960" cy="877824"/>
          </a:xfrm>
          <a:prstGeom prst="rect">
            <a:avLst/>
          </a:prstGeom>
          <a:solidFill>
            <a:srgbClr val="06A77D">
              <a:alpha val="18000"/>
            </a:srgbClr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63440" y="3182112"/>
            <a:ext cx="2865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  BOOKING AGENT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4663440" y="3572256"/>
            <a:ext cx="286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7BA4C8"/>
                </a:solidFill>
              </a:rPr>
              <a:t>Finds slots &amp;</a:t>
            </a:r>
            <a:r>
              <a:rPr lang="en-US" sz="1200" dirty="0"/>
              <a:t>  </a:t>
            </a:r>
            <a:r>
              <a:rPr lang="en-US" sz="1200" dirty="0">
                <a:solidFill>
                  <a:srgbClr val="7BA4C8"/>
                </a:solidFill>
              </a:rPr>
              <a:t>books appointments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96000" y="3986784"/>
            <a:ext cx="0" cy="34137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096000" y="4767072"/>
            <a:ext cx="0" cy="121920"/>
          </a:xfrm>
          <a:prstGeom prst="line">
            <a:avLst/>
          </a:prstGeom>
          <a:noFill/>
          <a:ln w="12700">
            <a:solidFill>
              <a:schemeClr val="tx1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687824" y="4328160"/>
            <a:ext cx="2816352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809744" y="4328160"/>
            <a:ext cx="264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 Calendar API</a:t>
            </a:r>
          </a:p>
        </p:txBody>
      </p:sp>
      <p:sp>
        <p:nvSpPr>
          <p:cNvPr id="45" name="Shape 43"/>
          <p:cNvSpPr/>
          <p:nvPr/>
        </p:nvSpPr>
        <p:spPr>
          <a:xfrm>
            <a:off x="6096000" y="5327904"/>
            <a:ext cx="0" cy="121920"/>
          </a:xfrm>
          <a:prstGeom prst="line">
            <a:avLst/>
          </a:prstGeom>
          <a:noFill/>
          <a:ln w="12700">
            <a:solidFill>
              <a:schemeClr val="tx1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687824" y="4888992"/>
            <a:ext cx="2816352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809744" y="4888992"/>
            <a:ext cx="264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 Doctor </a:t>
            </a:r>
            <a:r>
              <a:rPr lang="en-US" sz="1267" dirty="0" err="1"/>
              <a:t>DataBase</a:t>
            </a:r>
            <a:endParaRPr lang="en-US" sz="1267" dirty="0"/>
          </a:p>
        </p:txBody>
      </p:sp>
      <p:sp>
        <p:nvSpPr>
          <p:cNvPr id="49" name="Shape 47"/>
          <p:cNvSpPr/>
          <p:nvPr/>
        </p:nvSpPr>
        <p:spPr>
          <a:xfrm>
            <a:off x="4697060" y="5449824"/>
            <a:ext cx="2816352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809744" y="5449824"/>
            <a:ext cx="264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 Confirmation Email</a:t>
            </a:r>
          </a:p>
        </p:txBody>
      </p:sp>
      <p:sp>
        <p:nvSpPr>
          <p:cNvPr id="52" name="Shape 50"/>
          <p:cNvSpPr/>
          <p:nvPr/>
        </p:nvSpPr>
        <p:spPr>
          <a:xfrm>
            <a:off x="6096000" y="2511552"/>
            <a:ext cx="0" cy="37795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096000" y="2889504"/>
            <a:ext cx="42976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0393680" y="2889504"/>
            <a:ext cx="0" cy="21945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839200" y="3108960"/>
            <a:ext cx="3108960" cy="877824"/>
          </a:xfrm>
          <a:prstGeom prst="rect">
            <a:avLst/>
          </a:prstGeom>
          <a:solidFill>
            <a:srgbClr val="7B2FBE">
              <a:alpha val="18000"/>
            </a:srgbClr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961120" y="3182112"/>
            <a:ext cx="2865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  NOTIFICATION AGENT</a:t>
            </a:r>
            <a:endParaRPr lang="en-US" sz="1467" dirty="0"/>
          </a:p>
        </p:txBody>
      </p:sp>
      <p:sp>
        <p:nvSpPr>
          <p:cNvPr id="59" name="Text 57"/>
          <p:cNvSpPr/>
          <p:nvPr/>
        </p:nvSpPr>
        <p:spPr>
          <a:xfrm>
            <a:off x="8961120" y="3572256"/>
            <a:ext cx="286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7BA4C8"/>
                </a:solidFill>
              </a:rPr>
              <a:t>Sends alerts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7BA4C8"/>
                </a:solidFill>
              </a:rPr>
              <a:t>&amp; reminders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0393680" y="3986784"/>
            <a:ext cx="0" cy="34137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10393680" y="4767072"/>
            <a:ext cx="0" cy="121920"/>
          </a:xfrm>
          <a:prstGeom prst="line">
            <a:avLst/>
          </a:prstGeom>
          <a:noFill/>
          <a:ln w="12700">
            <a:solidFill>
              <a:schemeClr val="tx1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8985504" y="4328160"/>
            <a:ext cx="2816352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9107424" y="4328160"/>
            <a:ext cx="264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 SMS Tool</a:t>
            </a:r>
          </a:p>
        </p:txBody>
      </p:sp>
      <p:sp>
        <p:nvSpPr>
          <p:cNvPr id="66" name="Shape 64"/>
          <p:cNvSpPr/>
          <p:nvPr/>
        </p:nvSpPr>
        <p:spPr>
          <a:xfrm>
            <a:off x="10393680" y="5327904"/>
            <a:ext cx="0" cy="121920"/>
          </a:xfrm>
          <a:prstGeom prst="line">
            <a:avLst/>
          </a:prstGeom>
          <a:noFill/>
          <a:ln w="12700">
            <a:solidFill>
              <a:schemeClr val="tx1"/>
            </a:solidFill>
            <a:prstDash val="dot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8985504" y="4888992"/>
            <a:ext cx="2816352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9107424" y="4888992"/>
            <a:ext cx="264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 Email Tool</a:t>
            </a:r>
          </a:p>
        </p:txBody>
      </p:sp>
      <p:sp>
        <p:nvSpPr>
          <p:cNvPr id="70" name="Shape 68"/>
          <p:cNvSpPr/>
          <p:nvPr/>
        </p:nvSpPr>
        <p:spPr>
          <a:xfrm>
            <a:off x="8985504" y="5449824"/>
            <a:ext cx="2816352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9107424" y="5449824"/>
            <a:ext cx="2645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 Push Notification</a:t>
            </a:r>
          </a:p>
        </p:txBody>
      </p:sp>
      <p:sp>
        <p:nvSpPr>
          <p:cNvPr id="73" name="Shape 71"/>
          <p:cNvSpPr/>
          <p:nvPr/>
        </p:nvSpPr>
        <p:spPr>
          <a:xfrm>
            <a:off x="3048000" y="6071616"/>
            <a:ext cx="6096000" cy="560832"/>
          </a:xfrm>
          <a:prstGeom prst="rect">
            <a:avLst/>
          </a:prstGeom>
          <a:solidFill>
            <a:srgbClr val="06A77D">
              <a:alpha val="80000"/>
            </a:srgbClr>
          </a:solidFill>
          <a:ln w="1905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048000" y="6071616"/>
            <a:ext cx="60960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Appointment Confirmed &amp; Patient Notified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096000" y="5888736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5FA0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267" dirty="0">
                <a:solidFill>
                  <a:srgbClr val="FFFFFF"/>
                </a:solidFill>
              </a:rPr>
              <a:t>AGENT REASONING IN ACTION</a:t>
            </a:r>
            <a:endParaRPr lang="en-US" sz="1733" dirty="0"/>
          </a:p>
        </p:txBody>
      </p:sp>
      <p:sp>
        <p:nvSpPr>
          <p:cNvPr id="4" name="Text 2"/>
          <p:cNvSpPr/>
          <p:nvPr/>
        </p:nvSpPr>
        <p:spPr>
          <a:xfrm>
            <a:off x="487680" y="1060704"/>
            <a:ext cx="1097280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E5FA0"/>
                </a:solidFill>
              </a:rPr>
              <a:t>How the LLM Interprets Patient Input &amp; Makes Decisions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26720" y="1767840"/>
            <a:ext cx="5364480" cy="463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426720" y="1767840"/>
            <a:ext cx="5364480" cy="60960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487680" y="1767840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EXAMPLE 1  (Normal Case)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0560" y="2523744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3A5A7A"/>
                </a:solidFill>
              </a:rPr>
              <a:t>Patient says: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70560" y="377952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3A5A7A"/>
                </a:solidFill>
              </a:rPr>
              <a:t>Agent Reasoning: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4754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A1628"/>
                </a:solidFill>
              </a:rPr>
              <a:t>Urgency level: LOW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731520" y="4669536"/>
            <a:ext cx="4754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A1628"/>
                </a:solidFill>
              </a:rPr>
              <a:t>General physician sufficient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731520" y="5132832"/>
            <a:ext cx="4754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A1628"/>
                </a:solidFill>
              </a:rPr>
              <a:t>Schedule regular appointment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731520" y="5596128"/>
            <a:ext cx="4754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A1628"/>
                </a:solidFill>
              </a:rPr>
              <a:t>Send reminder email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400800" y="1767840"/>
            <a:ext cx="5364480" cy="463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Shape 15"/>
          <p:cNvSpPr/>
          <p:nvPr/>
        </p:nvSpPr>
        <p:spPr>
          <a:xfrm>
            <a:off x="6400800" y="1767840"/>
            <a:ext cx="5364480" cy="609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6461760" y="1767840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 EXAMPLE 2  (Emergency Case)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44640" y="2523744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3A5A7A"/>
                </a:solidFill>
              </a:rPr>
              <a:t>Patient says: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729984" y="2926080"/>
            <a:ext cx="4730496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6644640" y="377952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3A5A7A"/>
                </a:solidFill>
              </a:rPr>
              <a:t>Agent Reasoning: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6705600" y="4206240"/>
            <a:ext cx="4754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A1628"/>
                </a:solidFill>
              </a:rPr>
              <a:t>Urgency level: CRITICAL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705600" y="4669536"/>
            <a:ext cx="4754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A1628"/>
                </a:solidFill>
              </a:rPr>
              <a:t>Possible cardiac emergency detected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6705600" y="5132832"/>
            <a:ext cx="4754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A1628"/>
                </a:solidFill>
              </a:rPr>
              <a:t>Escalate to emergency department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705600" y="5596128"/>
            <a:ext cx="4754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A1628"/>
                </a:solidFill>
              </a:rPr>
              <a:t>Send urgent SMS alert immediately</a:t>
            </a:r>
            <a:endParaRPr lang="en-US" sz="1467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09F857-1889-9882-6813-5BF7AB5FFB31}"/>
              </a:ext>
            </a:extLst>
          </p:cNvPr>
          <p:cNvSpPr txBox="1"/>
          <p:nvPr/>
        </p:nvSpPr>
        <p:spPr>
          <a:xfrm>
            <a:off x="731520" y="2926080"/>
            <a:ext cx="4622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 have mild fever and headache for two days.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3F0519-6B2D-05A0-9DD8-ABF8CEDE01A7}"/>
              </a:ext>
            </a:extLst>
          </p:cNvPr>
          <p:cNvSpPr txBox="1"/>
          <p:nvPr/>
        </p:nvSpPr>
        <p:spPr>
          <a:xfrm>
            <a:off x="6705600" y="2926080"/>
            <a:ext cx="4730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have severe chest pain and difficulty breathing.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267" dirty="0">
                <a:solidFill>
                  <a:srgbClr val="0A1628"/>
                </a:solidFill>
              </a:rPr>
              <a:t>TOOL CALLING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853184"/>
            <a:ext cx="11338560" cy="548640"/>
          </a:xfrm>
          <a:prstGeom prst="rect">
            <a:avLst/>
          </a:prstGeom>
          <a:solidFill>
            <a:srgbClr val="0E5FA0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609600" y="18531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kern="0" spc="67" dirty="0">
                <a:solidFill>
                  <a:srgbClr val="FFFFFF"/>
                </a:solidFill>
              </a:rPr>
              <a:t>Tool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82240" y="18531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kern="0" spc="67" dirty="0">
                <a:solidFill>
                  <a:srgbClr val="FFFFFF"/>
                </a:solidFill>
              </a:rPr>
              <a:t>Purpose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0" y="1853184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kern="0" spc="67" dirty="0">
                <a:solidFill>
                  <a:srgbClr val="FFFFFF"/>
                </a:solidFill>
              </a:rPr>
              <a:t>When Invoked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6720" y="2499360"/>
            <a:ext cx="11338560" cy="755904"/>
          </a:xfrm>
          <a:prstGeom prst="rect">
            <a:avLst/>
          </a:prstGeom>
          <a:solidFill>
            <a:srgbClr val="12224A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585216" y="2499360"/>
            <a:ext cx="20116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B4D8"/>
                </a:solidFill>
              </a:rPr>
              <a:t> Calendar API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2657856" y="2499360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Check real-time doctor availability across departments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85760" y="2499360"/>
            <a:ext cx="3413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7BA4C8"/>
                </a:solidFill>
              </a:rPr>
              <a:t>Invoked when selecting appointment slots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426720" y="3316224"/>
            <a:ext cx="11338560" cy="755904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585216" y="3316224"/>
            <a:ext cx="20116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B4D8"/>
                </a:solidFill>
              </a:rPr>
              <a:t>Patient Database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2657856" y="3316224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Retrieve patient history, allergies, and prior appointments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85760" y="3316224"/>
            <a:ext cx="3413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7BA4C8"/>
                </a:solidFill>
              </a:rPr>
              <a:t>Used to personalize specialist selection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26720" y="4133088"/>
            <a:ext cx="11338560" cy="755904"/>
          </a:xfrm>
          <a:prstGeom prst="rect">
            <a:avLst/>
          </a:prstGeom>
          <a:solidFill>
            <a:srgbClr val="12224A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585216" y="4133088"/>
            <a:ext cx="20116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B4D8"/>
                </a:solidFill>
              </a:rPr>
              <a:t>SMS Tool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2657856" y="4133088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Send immediate text alerts for urgent cases or reminders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85760" y="4133088"/>
            <a:ext cx="3413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7BA4C8"/>
                </a:solidFill>
              </a:rPr>
              <a:t>Triggered on emergency or day before booking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426720" y="4949952"/>
            <a:ext cx="11338560" cy="755904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585216" y="4949952"/>
            <a:ext cx="20116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B4D8"/>
                </a:solidFill>
              </a:rPr>
              <a:t>Email Tool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2657856" y="4949952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Dispatch formatted appointment confirmation emails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85760" y="4949952"/>
            <a:ext cx="3413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7BA4C8"/>
                </a:solidFill>
              </a:rPr>
              <a:t>Standard confirmations for routine cases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426720" y="5766816"/>
            <a:ext cx="11338560" cy="755904"/>
          </a:xfrm>
          <a:prstGeom prst="rect">
            <a:avLst/>
          </a:prstGeom>
          <a:solidFill>
            <a:srgbClr val="12224A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585216" y="5766816"/>
            <a:ext cx="20116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B4D8"/>
                </a:solidFill>
              </a:rPr>
              <a:t> Emergency Alert Tool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2657856" y="5766816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Notify ER staff and on-call teams instantly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85760" y="5766816"/>
            <a:ext cx="3413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7BA4C8"/>
                </a:solidFill>
              </a:rPr>
              <a:t>Activated when critical symptoms are detected</a:t>
            </a:r>
            <a:endParaRPr lang="en-US" sz="13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5FA0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267" dirty="0">
                <a:solidFill>
                  <a:srgbClr val="FFFFFF"/>
                </a:solidFill>
              </a:rPr>
              <a:t>WORKFLOW vs AI AGENT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767840"/>
            <a:ext cx="3352800" cy="548640"/>
          </a:xfrm>
          <a:prstGeom prst="rect">
            <a:avLst/>
          </a:prstGeom>
          <a:solidFill>
            <a:srgbClr val="0E5FA0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426720" y="1767840"/>
            <a:ext cx="335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Criterion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01440" y="1767840"/>
            <a:ext cx="3840480" cy="548640"/>
          </a:xfrm>
          <a:prstGeom prst="rect">
            <a:avLst/>
          </a:prstGeom>
          <a:solidFill>
            <a:srgbClr val="5B6E8C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3901440" y="1767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Traditional 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24800" y="1767840"/>
            <a:ext cx="3840480" cy="54864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924800" y="1767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AI Agent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6720" y="2401824"/>
            <a:ext cx="11338560" cy="487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548640" y="2401824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628"/>
                </a:solidFill>
              </a:rPr>
              <a:t>Decision Making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4023360" y="2401824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B6E8C"/>
                </a:solidFill>
              </a:rPr>
              <a:t>Fixed, rule-based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8046720" y="2401824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6A77D"/>
                </a:solidFill>
              </a:rPr>
              <a:t>Context-aware reasoning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26720" y="2926080"/>
            <a:ext cx="11338560" cy="48768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628"/>
                </a:solidFill>
              </a:rPr>
              <a:t>Input Handling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4023360" y="292608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B6E8C"/>
                </a:solidFill>
              </a:rPr>
              <a:t>Structured form only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8046720" y="292608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6A77D"/>
                </a:solidFill>
              </a:rPr>
              <a:t>Natural language + free text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26720" y="3450336"/>
            <a:ext cx="11338560" cy="487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548640" y="3450336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628"/>
                </a:solidFill>
              </a:rPr>
              <a:t>Exception Handling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4023360" y="3450336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B6E8C"/>
                </a:solidFill>
              </a:rPr>
              <a:t>Manual intervention needed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8046720" y="3450336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6A77D"/>
                </a:solidFill>
              </a:rPr>
              <a:t>Autonomous adaptation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426720" y="3974592"/>
            <a:ext cx="11338560" cy="48768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4" name="Text 22"/>
          <p:cNvSpPr/>
          <p:nvPr/>
        </p:nvSpPr>
        <p:spPr>
          <a:xfrm>
            <a:off x="548640" y="3974592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628"/>
                </a:solidFill>
              </a:rPr>
              <a:t>Urgency Detection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4023360" y="3974592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B6E8C"/>
                </a:solidFill>
              </a:rPr>
              <a:t>None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8046720" y="3974592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6A77D"/>
                </a:solidFill>
              </a:rPr>
              <a:t>Real time LLM analysis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426720" y="4498848"/>
            <a:ext cx="11338560" cy="487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8" name="Text 26"/>
          <p:cNvSpPr/>
          <p:nvPr/>
        </p:nvSpPr>
        <p:spPr>
          <a:xfrm>
            <a:off x="548640" y="4498848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628"/>
                </a:solidFill>
              </a:rPr>
              <a:t>Tool Usage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4023360" y="4498848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B6E8C"/>
                </a:solidFill>
              </a:rPr>
              <a:t>Pre-wired integrations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8046720" y="4498848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6A77D"/>
                </a:solidFill>
              </a:rPr>
              <a:t>Dynamic tool selection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426720" y="5023104"/>
            <a:ext cx="11338560" cy="48768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548640" y="5023104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628"/>
                </a:solidFill>
              </a:rPr>
              <a:t>Specialist Routing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4023360" y="5023104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B6E8C"/>
                </a:solidFill>
              </a:rPr>
              <a:t>Department dropdown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8046720" y="5023104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6A77D"/>
                </a:solidFill>
              </a:rPr>
              <a:t>Symptom driven matching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426720" y="5547360"/>
            <a:ext cx="11338560" cy="487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6" name="Text 34"/>
          <p:cNvSpPr/>
          <p:nvPr/>
        </p:nvSpPr>
        <p:spPr>
          <a:xfrm>
            <a:off x="548640" y="5547360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628"/>
                </a:solidFill>
              </a:rPr>
              <a:t>Personalization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4023360" y="554736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B6E8C"/>
                </a:solidFill>
              </a:rPr>
              <a:t>None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8046720" y="554736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6A77D"/>
                </a:solidFill>
              </a:rPr>
              <a:t>Memory of patient history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548640" y="6071616"/>
            <a:ext cx="3230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/>
          </a:p>
        </p:txBody>
      </p:sp>
      <p:sp>
        <p:nvSpPr>
          <p:cNvPr id="41" name="Text 39"/>
          <p:cNvSpPr/>
          <p:nvPr/>
        </p:nvSpPr>
        <p:spPr>
          <a:xfrm>
            <a:off x="4023360" y="6071616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/>
          </a:p>
        </p:txBody>
      </p:sp>
      <p:sp>
        <p:nvSpPr>
          <p:cNvPr id="42" name="Text 40"/>
          <p:cNvSpPr/>
          <p:nvPr/>
        </p:nvSpPr>
        <p:spPr>
          <a:xfrm>
            <a:off x="8046720" y="6071616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5FA0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267" dirty="0">
                <a:solidFill>
                  <a:srgbClr val="FFFFFF"/>
                </a:solidFill>
              </a:rPr>
              <a:t>WHEN TO USE WHICH APPROACH</a:t>
            </a:r>
            <a:endParaRPr lang="en-US" sz="1733" dirty="0"/>
          </a:p>
        </p:txBody>
      </p:sp>
      <p:sp>
        <p:nvSpPr>
          <p:cNvPr id="4" name="Text 2"/>
          <p:cNvSpPr/>
          <p:nvPr/>
        </p:nvSpPr>
        <p:spPr>
          <a:xfrm>
            <a:off x="487680" y="1072896"/>
            <a:ext cx="1097280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solidFill>
                  <a:srgbClr val="00B4D8"/>
                </a:solidFill>
              </a:rPr>
              <a:t>Choosing the Right Tool for the Right Job</a:t>
            </a:r>
            <a:endParaRPr lang="en-US" sz="2533" dirty="0"/>
          </a:p>
        </p:txBody>
      </p:sp>
      <p:sp>
        <p:nvSpPr>
          <p:cNvPr id="5" name="Shape 3"/>
          <p:cNvSpPr/>
          <p:nvPr/>
        </p:nvSpPr>
        <p:spPr>
          <a:xfrm>
            <a:off x="426720" y="1804416"/>
            <a:ext cx="5364480" cy="469392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426720" y="1804416"/>
            <a:ext cx="5364480" cy="63398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609600" y="1804416"/>
            <a:ext cx="505968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Use WORKFLOW When: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70560" y="259689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✓  Process steps are always the same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670560" y="3230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✓  Compliance &amp; audit trail required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70560" y="386486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✓  Team is non-technical; needs predictability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70560" y="44988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✓  Actions are well-defined and low-risk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670560" y="51328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✓  Cost and latency are critical constraints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6400800" y="1804416"/>
            <a:ext cx="5364480" cy="469392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5" name="Shape 13"/>
          <p:cNvSpPr/>
          <p:nvPr/>
        </p:nvSpPr>
        <p:spPr>
          <a:xfrm>
            <a:off x="6400800" y="1804416"/>
            <a:ext cx="5364480" cy="63398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6583680" y="1804416"/>
            <a:ext cx="505968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Use AI AGENT When: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6583680" y="259689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✓  Inputs are variable or unstructured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6583680" y="3230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✓  Urgency or context changes dynamically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6583680" y="386486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✓  Specialist selection requires reasoning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6583680" y="44988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✓  Exceptions are frequent and complex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583680" y="51328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✓  Personalization improves outcomes</a:t>
            </a:r>
            <a:endParaRPr lang="en-US" sz="146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9A008B6-FCF1-F8E2-1EF1-EF310E8AF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E76C0F-9C90-A83B-79C8-FD4794C11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85001-5D47-19B0-267A-56C4A683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48" r="8473" b="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0807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584</Words>
  <Application>Microsoft Office PowerPoint</Application>
  <PresentationFormat>Widescreen</PresentationFormat>
  <Paragraphs>170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Neue Haas Grotesk Text Pro</vt:lpstr>
      <vt:lpstr>VanillaVTI</vt:lpstr>
      <vt:lpstr>Workflow vs AI Agent</vt:lpstr>
      <vt:lpstr>Problem Statement</vt:lpstr>
      <vt:lpstr>PowerPoint Presentation</vt:lpstr>
      <vt:lpstr>Limitations of Traditional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Renu Aayush Maddi</dc:creator>
  <cp:lastModifiedBy>Renu Aayush Maddi</cp:lastModifiedBy>
  <cp:revision>2</cp:revision>
  <dcterms:created xsi:type="dcterms:W3CDTF">2026-05-09T18:07:12Z</dcterms:created>
  <dcterms:modified xsi:type="dcterms:W3CDTF">2026-05-12T10:44:08Z</dcterms:modified>
</cp:coreProperties>
</file>